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78192C-49F9-49E2-9B7E-FB05A818C8F6}">
  <a:tblStyle styleId="{7E78192C-49F9-49E2-9B7E-FB05A818C8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a12af394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a12af394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aa12af394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aa12af394_2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a12af394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aa12af394_2_9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a12af394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aa12af394_2_1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731520" y="185166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4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The Knapsack Problem</a:t>
            </a:r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731520" y="2537460"/>
            <a:ext cx="76809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PC build optimizer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731520" y="3120390"/>
            <a:ext cx="7680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										By Rahul Chithra Shiva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54864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The 0/1 Knapsack</a:t>
            </a:r>
            <a:endParaRPr/>
          </a:p>
        </p:txBody>
      </p:sp>
      <p:sp>
        <p:nvSpPr>
          <p:cNvPr id="137" name="Google Shape;137;p26"/>
          <p:cNvSpPr txBox="1"/>
          <p:nvPr/>
        </p:nvSpPr>
        <p:spPr>
          <a:xfrm>
            <a:off x="548640" y="89154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Given n items with weights wᵢ and values vᵢ, and capacity W,</a:t>
            </a:r>
            <a:endParaRPr/>
          </a:p>
        </p:txBody>
      </p:sp>
      <p:sp>
        <p:nvSpPr>
          <p:cNvPr id="138" name="Google Shape;138;p26"/>
          <p:cNvSpPr txBox="1"/>
          <p:nvPr/>
        </p:nvSpPr>
        <p:spPr>
          <a:xfrm>
            <a:off x="548640" y="116586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pick a subset so total weight ≤ W and total value is maximized.</a:t>
            </a: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548640" y="147447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Each item is either taken (1) or left out (0). No fractional items.</a:t>
            </a:r>
            <a:endParaRPr/>
          </a:p>
        </p:txBody>
      </p:sp>
      <p:sp>
        <p:nvSpPr>
          <p:cNvPr id="140" name="Google Shape;140;p26"/>
          <p:cNvSpPr txBox="1"/>
          <p:nvPr/>
        </p:nvSpPr>
        <p:spPr>
          <a:xfrm>
            <a:off x="548640" y="195453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Recurrence</a:t>
            </a:r>
            <a:endParaRPr/>
          </a:p>
        </p:txBody>
      </p:sp>
      <p:sp>
        <p:nvSpPr>
          <p:cNvPr id="141" name="Google Shape;141;p26"/>
          <p:cNvSpPr/>
          <p:nvPr/>
        </p:nvSpPr>
        <p:spPr>
          <a:xfrm>
            <a:off x="548640" y="2263140"/>
            <a:ext cx="8046720" cy="96012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685800" y="233172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dp[i][w]  =  max(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dp[i-1][w],                            // leave item i out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dp[i-1][w - wᵢ] + vᵢ          // take item i  (if wᵢ ≤ w)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)</a:t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548640" y="339471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Complexity &amp; solution recovery</a:t>
            </a: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640080" y="3703320"/>
            <a:ext cx="8046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 Time:  O(n × W)        Space:  O(n × W) for the full DP table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 Naive recursion is O(2ⁿ) — DP collapses it because there are only n × W distinct subproblems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 Backtrack from dp[n][W]: if dp[i][w] ≠ dp[i-1][w], item i was taken — record it, subtract wᵢ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/>
        </p:nvSpPr>
        <p:spPr>
          <a:xfrm>
            <a:off x="54864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Multiple-Choice Knapsack (MCKP)</a:t>
            </a:r>
            <a:endParaRPr/>
          </a:p>
        </p:txBody>
      </p:sp>
      <p:sp>
        <p:nvSpPr>
          <p:cNvPr id="150" name="Google Shape;150;p27"/>
          <p:cNvSpPr txBox="1"/>
          <p:nvPr/>
        </p:nvSpPr>
        <p:spPr>
          <a:xfrm>
            <a:off x="548640" y="89154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Items are partitioned into g groups. Pick exactly one item from each group.</a:t>
            </a:r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548640" y="120015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Same weight cap W, same goal: maximize total value.</a:t>
            </a:r>
            <a:endParaRPr/>
          </a:p>
        </p:txBody>
      </p:sp>
      <p:sp>
        <p:nvSpPr>
          <p:cNvPr id="152" name="Google Shape;152;p27"/>
          <p:cNvSpPr/>
          <p:nvPr/>
        </p:nvSpPr>
        <p:spPr>
          <a:xfrm>
            <a:off x="548640" y="1645920"/>
            <a:ext cx="8046720" cy="685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685800" y="17145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dp[i][w]  =  max  { dp[i-1][w - price(j)] + value(j)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over items j in group i  with  price(j) ≤ w</a:t>
            </a:r>
            <a:endParaRPr/>
          </a:p>
        </p:txBody>
      </p:sp>
      <p:sp>
        <p:nvSpPr>
          <p:cNvPr id="154" name="Google Shape;154;p27"/>
          <p:cNvSpPr txBox="1"/>
          <p:nvPr/>
        </p:nvSpPr>
        <p:spPr>
          <a:xfrm>
            <a:off x="548640" y="243459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Time:  O(W × Σ |groupᵢ|)        Reduces to plain 0/1 if every group has one item.</a:t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548640" y="284607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0/1 vs MCKP</a:t>
            </a:r>
            <a:endParaRPr/>
          </a:p>
        </p:txBody>
      </p:sp>
      <p:graphicFrame>
        <p:nvGraphicFramePr>
          <p:cNvPr id="156" name="Google Shape;156;p27"/>
          <p:cNvGraphicFramePr/>
          <p:nvPr/>
        </p:nvGraphicFramePr>
        <p:xfrm>
          <a:off x="548640" y="315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{7E78192C-49F9-49E2-9B7E-FB05A818C8F6}</a:tableStyleId>
              </a:tblPr>
              <a:tblGrid>
                <a:gridCol w="2194550"/>
                <a:gridCol w="2926075"/>
                <a:gridCol w="29260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0/1 Knapsack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MCKP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1F3A5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 structure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Flat list of items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Items partitioned into groups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Selection rule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item: in or out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Exactly one item per group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Inner of recurrence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Take or skip the item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Try every item in current group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complexity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O(n × W)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O(W × Σ |groupᵢ|)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54864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Worked Example: $1500 Gaming Build</a:t>
            </a:r>
            <a:endParaRPr/>
          </a:p>
        </p:txBody>
      </p:sp>
      <p:sp>
        <p:nvSpPr>
          <p:cNvPr id="162" name="Google Shape;162;p28"/>
          <p:cNvSpPr txBox="1"/>
          <p:nvPr/>
        </p:nvSpPr>
        <p:spPr>
          <a:xfrm>
            <a:off x="548640" y="89154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MCKP runs over 7 groups (categories). The DP maximizes the weighted-score column.</a:t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548640" y="120015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Constraint configuration chosen:  LGA1700  /  Micro-ATX</a:t>
            </a:r>
            <a:endParaRPr/>
          </a:p>
        </p:txBody>
      </p:sp>
      <p:graphicFrame>
        <p:nvGraphicFramePr>
          <p:cNvPr id="164" name="Google Shape;164;p28"/>
          <p:cNvGraphicFramePr/>
          <p:nvPr/>
        </p:nvGraphicFramePr>
        <p:xfrm>
          <a:off x="548640" y="1577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{7E78192C-49F9-49E2-9B7E-FB05A818C8F6}</a:tableStyleId>
              </a:tblPr>
              <a:tblGrid>
                <a:gridCol w="1280150"/>
                <a:gridCol w="1188725"/>
                <a:gridCol w="2194550"/>
                <a:gridCol w="33832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Normalized score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 contribution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1F3A5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$429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64.2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64.2 × 0.20  =  12.84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$550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55.0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55.0 × 0.45  =  24.75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Mobo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$120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38.9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38.9 × 0.05  =   1.95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RAM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$102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8.6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8.6 × 0.10  =   0.86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Storage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$90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78.9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78.9 × 0.10  =   7.89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PSU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$170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58.2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58.2 × 0.07  =   4.07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7F7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Case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$37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50.0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50.0 × 0.03  =   1.50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$1498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3A5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53.86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28"/>
          <p:cNvSpPr txBox="1"/>
          <p:nvPr/>
        </p:nvSpPr>
        <p:spPr>
          <a:xfrm>
            <a:off x="548640" y="442341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DP finds the combination of one item per group that maximizes 53.86 with prices ≤ $1500.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